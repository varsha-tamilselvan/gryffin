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071881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E2A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23721"/>
            <a:ext cx="10566400" cy="4221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E2A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071881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E2A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23721"/>
            <a:ext cx="10566400" cy="4221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E2A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60918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D984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BAYESIAN OPTIMIZATION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69858"/>
            <a:ext cx="10883392" cy="1287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68"/>
              </a:lnSpc>
              <a:buNone/>
            </a:pPr>
            <a:r>
              <a:rPr lang="en-US" sz="4600" b="1" i="0" dirty="0">
                <a:solidFill>
                  <a:srgbClr val="F7F5F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Hierarchical Multi-Objective Optimization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12800" y="4109403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7CDD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Chimera scalarization · kernel-density surrogate · acquisition search · adaptive update loop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6238240"/>
            <a:ext cx="22644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D97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Internal technical summary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150" kern="0" dirty="0">
                <a:solidFill>
                  <a:srgbClr val="9C4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 PAPERS</a:t>
            </a:r>
            <a:endParaRPr lang="en-US" sz="11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7188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E2A3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Foundations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25295"/>
            <a:ext cx="3380264" cy="1753552"/>
          </a:xfrm>
          <a:prstGeom prst="roundRect">
            <a:avLst>
              <a:gd name="adj" fmla="val 5613"/>
            </a:avLst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480" y="1955800"/>
            <a:ext cx="300683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9C4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Phoenics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6480" y="2273300"/>
            <a:ext cx="3006831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ACS Cent. Sci., 2018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46480" y="2557780"/>
            <a:ext cx="3006831" cy="715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1E2A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Bayesian kernel-density surrogate and acquisition function for continuous-space optimization.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05789" y="1725295"/>
            <a:ext cx="3380343" cy="1753552"/>
          </a:xfrm>
          <a:prstGeom prst="roundRect">
            <a:avLst>
              <a:gd name="adj" fmla="val 5613"/>
            </a:avLst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294" y="1955800"/>
            <a:ext cx="30069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9C4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Chimera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36294" y="2273300"/>
            <a:ext cx="3006913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Chem. Sci., 2018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36294" y="2557780"/>
            <a:ext cx="3006913" cy="715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1E2A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Hierarchy-based achievement scalarization: turns multiple objectives into one merit value.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95682" y="1725295"/>
            <a:ext cx="3380343" cy="1753552"/>
          </a:xfrm>
          <a:prstGeom prst="roundRect">
            <a:avLst>
              <a:gd name="adj" fmla="val 5613"/>
            </a:avLst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6187" y="1955800"/>
            <a:ext cx="30069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9C4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Gryffin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6187" y="2273300"/>
            <a:ext cx="3006913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Appl. Phys. Rev., 2021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6187" y="2557780"/>
            <a:ext cx="3006913" cy="715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1E2A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Extends Phoenics to categorical and mixed spaces; defines the recommend-observe loop we follow.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12800" y="3685222"/>
            <a:ext cx="1088339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Our implementation follows these equations directly in pure NumPy — no Cython, PyTorch or MCMC dependency.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12800" y="6256020"/>
            <a:ext cx="1543336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B65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Pipeline foundations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092100" y="6256020"/>
            <a:ext cx="344519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B65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/ 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150" kern="0" dirty="0">
                <a:solidFill>
                  <a:srgbClr val="9C4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STAGE 1 · MULTI-OBJECTIVE TO SINGLE MERIT</a:t>
            </a:r>
            <a:endParaRPr lang="en-US" sz="11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7188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E2A3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Chimera — Hierarchy &amp; Tolerance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04875" y="1671320"/>
            <a:ext cx="5211191" cy="1176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1925" indent="-161925">
              <a:lnSpc>
                <a:spcPts val="1813"/>
              </a:lnSpc>
              <a:buSzPct val="100000"/>
              <a:buChar char="•"/>
            </a:pPr>
            <a:r>
              <a:rPr lang="en-US" sz="1250" dirty="0">
                <a:solidFill>
                  <a:srgbClr val="1E2A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Objectives ranked by priority — index 0 matters most</a:t>
            </a:r>
            <a:endParaRPr lang="en-US" sz="1250" dirty="0"/>
          </a:p>
          <a:p>
            <a:pPr algn="l" marL="161925" indent="-161925">
              <a:lnSpc>
                <a:spcPts val="1813"/>
              </a:lnSpc>
              <a:buSzPct val="100000"/>
              <a:buChar char="•"/>
            </a:pPr>
            <a:r>
              <a:rPr lang="en-US" sz="1250" dirty="0">
                <a:solidFill>
                  <a:srgbClr val="1E2A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objective gets a tolerance: how much it may degrade so the next one can improve</a:t>
            </a:r>
            <a:endParaRPr lang="en-US" sz="1250" dirty="0"/>
          </a:p>
          <a:p>
            <a:pPr algn="l" marL="161925" indent="-161925">
              <a:lnSpc>
                <a:spcPts val="1813"/>
              </a:lnSpc>
              <a:buSzPct val="100000"/>
              <a:buChar char="•"/>
            </a:pPr>
            <a:r>
              <a:rPr lang="en-US" sz="1250" dirty="0">
                <a:solidFill>
                  <a:srgbClr val="1E2A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lower-priority objective only counts once every higher-priority one is within tolerance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12800" y="2936557"/>
            <a:ext cx="5156200" cy="1014730"/>
          </a:xfrm>
          <a:prstGeom prst="roundRect">
            <a:avLst>
              <a:gd name="adj" fmla="val 7509"/>
            </a:avLst>
          </a:prstGeom>
          <a:solidFill>
            <a:srgbClr val="1E2A33"/>
          </a:solidFill>
          <a:ln/>
        </p:spPr>
      </p:sp>
      <p:sp>
        <p:nvSpPr>
          <p:cNvPr id="6" name="Text 4"/>
          <p:cNvSpPr/>
          <p:nvPr/>
        </p:nvSpPr>
        <p:spPr>
          <a:xfrm>
            <a:off x="977900" y="3101657"/>
            <a:ext cx="497078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D984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MERIT FORMULA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77900" y="3348038"/>
            <a:ext cx="49707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chi(x) = F0 * pass0 + sum_k (Fk - best_at_prev_level) * passk * (all earlier failed)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12800" y="4065588"/>
            <a:ext cx="5310886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Output: one scalar merit per experiment, normalized to [0,1] (0 = best) and sqrt-sharpened near the optimum.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223000" y="1671320"/>
            <a:ext cx="5310886" cy="21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spc="100" kern="0" dirty="0">
                <a:solidFill>
                  <a:srgbClr val="6B65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EXAMPLE — 5 OBJECTIVES, IN ORDER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23000" y="1908811"/>
            <a:ext cx="5156200" cy="562610"/>
          </a:xfrm>
          <a:prstGeom prst="roundRect">
            <a:avLst>
              <a:gd name="adj" fmla="val 11287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223000" y="1908811"/>
            <a:ext cx="5156200" cy="562610"/>
          </a:xfrm>
          <a:custGeom>
            <a:avLst/>
            <a:gdLst/>
            <a:ahLst/>
            <a:cxnLst/>
            <a:rect l="l" t="t" r="r" b="b"/>
            <a:pathLst>
              <a:path w="5156200" h="562610">
                <a:moveTo>
                  <a:pt x="63500" y="562610"/>
                </a:moveTo>
                <a:lnTo>
                  <a:pt x="63500" y="562610"/>
                </a:lnTo>
                <a:arcTo hR="63500" wR="63500" stAng="5400000" swAng="5400000"/>
                <a:lnTo>
                  <a:pt x="0" y="63500"/>
                </a:lnTo>
                <a:arcTo hR="63500" wR="63500" stAng="10800000" swAng="5400000"/>
                <a:lnTo>
                  <a:pt x="63500" y="0"/>
                </a:lnTo>
                <a:arcTo hR="63500" wR="25400" stAng="16200000" swAng="-5400000"/>
                <a:lnTo>
                  <a:pt x="38100" y="499110"/>
                </a:lnTo>
                <a:arcTo hR="63500" wR="25400" stAng="10800000" swAng="-5400000"/>
                <a:close/>
              </a:path>
            </a:pathLst>
          </a:custGeom>
          <a:solidFill>
            <a:srgbClr val="C1562F"/>
          </a:solidFill>
          <a:ln/>
        </p:spPr>
      </p:sp>
      <p:sp>
        <p:nvSpPr>
          <p:cNvPr id="12" name="Text 10"/>
          <p:cNvSpPr/>
          <p:nvPr/>
        </p:nvSpPr>
        <p:spPr>
          <a:xfrm>
            <a:off x="6385560" y="1985011"/>
            <a:ext cx="5012639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E2A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P0 — Yield (max)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385560" y="2208530"/>
            <a:ext cx="5012639" cy="21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tolerance 20% of observed range</a:t>
            </a:r>
            <a:endParaRPr lang="en-US" sz="1050" dirty="0"/>
          </a:p>
        </p:txBody>
      </p:sp>
      <p:pic>
        <p:nvPicPr>
          <p:cNvPr id="14" name="Image 0" descr="arrow-dow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43950" y="2522220"/>
            <a:ext cx="114300" cy="1778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223000" y="2750820"/>
            <a:ext cx="5156200" cy="562610"/>
          </a:xfrm>
          <a:prstGeom prst="roundRect">
            <a:avLst>
              <a:gd name="adj" fmla="val 11287"/>
            </a:avLst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6223000" y="2750820"/>
            <a:ext cx="5156200" cy="562610"/>
          </a:xfrm>
          <a:custGeom>
            <a:avLst/>
            <a:gdLst/>
            <a:ahLst/>
            <a:cxnLst/>
            <a:rect l="l" t="t" r="r" b="b"/>
            <a:pathLst>
              <a:path w="5156200" h="562610">
                <a:moveTo>
                  <a:pt x="63500" y="562610"/>
                </a:moveTo>
                <a:lnTo>
                  <a:pt x="63500" y="562610"/>
                </a:lnTo>
                <a:arcTo hR="63500" wR="63500" stAng="5400000" swAng="5400000"/>
                <a:lnTo>
                  <a:pt x="0" y="63500"/>
                </a:lnTo>
                <a:arcTo hR="63500" wR="63500" stAng="10800000" swAng="5400000"/>
                <a:lnTo>
                  <a:pt x="63500" y="0"/>
                </a:lnTo>
                <a:arcTo hR="63500" wR="25400" stAng="16200000" swAng="-5400000"/>
                <a:lnTo>
                  <a:pt x="38100" y="499110"/>
                </a:lnTo>
                <a:arcTo hR="63500" wR="25400" stAng="10800000" swAng="-5400000"/>
                <a:close/>
              </a:path>
            </a:pathLst>
          </a:custGeom>
          <a:solidFill>
            <a:srgbClr val="4C6B8A"/>
          </a:solidFill>
          <a:ln/>
        </p:spPr>
      </p:sp>
      <p:sp>
        <p:nvSpPr>
          <p:cNvPr id="17" name="Text 14"/>
          <p:cNvSpPr/>
          <p:nvPr/>
        </p:nvSpPr>
        <p:spPr>
          <a:xfrm>
            <a:off x="6385560" y="2827020"/>
            <a:ext cx="5012639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E2A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P1 — Purity (max)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385560" y="3050541"/>
            <a:ext cx="5012639" cy="21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counted if P0 passed</a:t>
            </a:r>
            <a:endParaRPr lang="en-US" sz="1050" dirty="0"/>
          </a:p>
        </p:txBody>
      </p:sp>
      <p:pic>
        <p:nvPicPr>
          <p:cNvPr id="19" name="Image 1" descr="arrow-down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743950" y="3364230"/>
            <a:ext cx="114300" cy="17780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6223000" y="3592830"/>
            <a:ext cx="5156200" cy="562610"/>
          </a:xfrm>
          <a:prstGeom prst="roundRect">
            <a:avLst>
              <a:gd name="adj" fmla="val 11287"/>
            </a:avLst>
          </a:prstGeom>
          <a:solidFill>
            <a:srgbClr val="FFFFFF"/>
          </a:solidFill>
          <a:ln/>
        </p:spPr>
      </p:sp>
      <p:sp>
        <p:nvSpPr>
          <p:cNvPr id="21" name="Shape 17"/>
          <p:cNvSpPr/>
          <p:nvPr/>
        </p:nvSpPr>
        <p:spPr>
          <a:xfrm>
            <a:off x="6223000" y="3592830"/>
            <a:ext cx="5156200" cy="562610"/>
          </a:xfrm>
          <a:custGeom>
            <a:avLst/>
            <a:gdLst/>
            <a:ahLst/>
            <a:cxnLst/>
            <a:rect l="l" t="t" r="r" b="b"/>
            <a:pathLst>
              <a:path w="5156200" h="562610">
                <a:moveTo>
                  <a:pt x="63500" y="562610"/>
                </a:moveTo>
                <a:lnTo>
                  <a:pt x="63500" y="562610"/>
                </a:lnTo>
                <a:arcTo hR="63500" wR="63500" stAng="5400000" swAng="5400000"/>
                <a:lnTo>
                  <a:pt x="0" y="63500"/>
                </a:lnTo>
                <a:arcTo hR="63500" wR="63500" stAng="10800000" swAng="5400000"/>
                <a:lnTo>
                  <a:pt x="63500" y="0"/>
                </a:lnTo>
                <a:arcTo hR="63500" wR="25400" stAng="16200000" swAng="-5400000"/>
                <a:lnTo>
                  <a:pt x="38100" y="499110"/>
                </a:lnTo>
                <a:arcTo hR="63500" wR="25400" stAng="10800000" swAng="-5400000"/>
                <a:close/>
              </a:path>
            </a:pathLst>
          </a:custGeom>
          <a:solidFill>
            <a:srgbClr val="4C6B8A"/>
          </a:solidFill>
          <a:ln/>
        </p:spPr>
      </p:sp>
      <p:sp>
        <p:nvSpPr>
          <p:cNvPr id="22" name="Text 18"/>
          <p:cNvSpPr/>
          <p:nvPr/>
        </p:nvSpPr>
        <p:spPr>
          <a:xfrm>
            <a:off x="6385560" y="3669030"/>
            <a:ext cx="5012639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E2A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P2 — Cost (min)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6385560" y="3892550"/>
            <a:ext cx="5012639" cy="21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counted if P0, P1 passed</a:t>
            </a:r>
            <a:endParaRPr lang="en-US" sz="1050" dirty="0"/>
          </a:p>
        </p:txBody>
      </p:sp>
      <p:pic>
        <p:nvPicPr>
          <p:cNvPr id="24" name="Image 2" descr="arrow-down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43950" y="4206241"/>
            <a:ext cx="114300" cy="17780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6223000" y="4434841"/>
            <a:ext cx="5156200" cy="562610"/>
          </a:xfrm>
          <a:prstGeom prst="roundRect">
            <a:avLst>
              <a:gd name="adj" fmla="val 11287"/>
            </a:avLst>
          </a:prstGeom>
          <a:solidFill>
            <a:srgbClr val="FFFFFF"/>
          </a:solidFill>
          <a:ln/>
        </p:spPr>
      </p:sp>
      <p:sp>
        <p:nvSpPr>
          <p:cNvPr id="26" name="Shape 21"/>
          <p:cNvSpPr/>
          <p:nvPr/>
        </p:nvSpPr>
        <p:spPr>
          <a:xfrm>
            <a:off x="6223000" y="4434841"/>
            <a:ext cx="5156200" cy="562610"/>
          </a:xfrm>
          <a:custGeom>
            <a:avLst/>
            <a:gdLst/>
            <a:ahLst/>
            <a:cxnLst/>
            <a:rect l="l" t="t" r="r" b="b"/>
            <a:pathLst>
              <a:path w="5156200" h="562610">
                <a:moveTo>
                  <a:pt x="63500" y="562610"/>
                </a:moveTo>
                <a:lnTo>
                  <a:pt x="63500" y="562610"/>
                </a:lnTo>
                <a:arcTo hR="63500" wR="63500" stAng="5400000" swAng="5400000"/>
                <a:lnTo>
                  <a:pt x="0" y="63500"/>
                </a:lnTo>
                <a:arcTo hR="63500" wR="63500" stAng="10800000" swAng="5400000"/>
                <a:lnTo>
                  <a:pt x="63500" y="0"/>
                </a:lnTo>
                <a:arcTo hR="63500" wR="25400" stAng="16200000" swAng="-5400000"/>
                <a:lnTo>
                  <a:pt x="38100" y="499110"/>
                </a:lnTo>
                <a:arcTo hR="63500" wR="25400" stAng="10800000" swAng="-5400000"/>
                <a:close/>
              </a:path>
            </a:pathLst>
          </a:custGeom>
          <a:solidFill>
            <a:srgbClr val="4C6B8A"/>
          </a:solidFill>
          <a:ln/>
        </p:spPr>
      </p:sp>
      <p:sp>
        <p:nvSpPr>
          <p:cNvPr id="27" name="Text 22"/>
          <p:cNvSpPr/>
          <p:nvPr/>
        </p:nvSpPr>
        <p:spPr>
          <a:xfrm>
            <a:off x="6385560" y="4511041"/>
            <a:ext cx="5012639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E2A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P3 — Byproduct (min)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6385560" y="4734561"/>
            <a:ext cx="5012639" cy="21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counted if P0–P2 passed</a:t>
            </a:r>
            <a:endParaRPr lang="en-US" sz="1050" dirty="0"/>
          </a:p>
        </p:txBody>
      </p:sp>
      <p:pic>
        <p:nvPicPr>
          <p:cNvPr id="29" name="Image 3" descr="arrow-down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743950" y="5048250"/>
            <a:ext cx="114300" cy="177800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6223000" y="5276850"/>
            <a:ext cx="5156200" cy="562610"/>
          </a:xfrm>
          <a:prstGeom prst="roundRect">
            <a:avLst>
              <a:gd name="adj" fmla="val 11287"/>
            </a:avLst>
          </a:prstGeom>
          <a:solidFill>
            <a:srgbClr val="FFFFFF"/>
          </a:solidFill>
          <a:ln/>
        </p:spPr>
      </p:sp>
      <p:sp>
        <p:nvSpPr>
          <p:cNvPr id="31" name="Shape 25"/>
          <p:cNvSpPr/>
          <p:nvPr/>
        </p:nvSpPr>
        <p:spPr>
          <a:xfrm>
            <a:off x="6223000" y="5276850"/>
            <a:ext cx="5156200" cy="562610"/>
          </a:xfrm>
          <a:custGeom>
            <a:avLst/>
            <a:gdLst/>
            <a:ahLst/>
            <a:cxnLst/>
            <a:rect l="l" t="t" r="r" b="b"/>
            <a:pathLst>
              <a:path w="5156200" h="562610">
                <a:moveTo>
                  <a:pt x="63500" y="562610"/>
                </a:moveTo>
                <a:lnTo>
                  <a:pt x="63500" y="562610"/>
                </a:lnTo>
                <a:arcTo hR="63500" wR="63500" stAng="5400000" swAng="5400000"/>
                <a:lnTo>
                  <a:pt x="0" y="63500"/>
                </a:lnTo>
                <a:arcTo hR="63500" wR="63500" stAng="10800000" swAng="5400000"/>
                <a:lnTo>
                  <a:pt x="63500" y="0"/>
                </a:lnTo>
                <a:arcTo hR="63500" wR="25400" stAng="16200000" swAng="-5400000"/>
                <a:lnTo>
                  <a:pt x="38100" y="499110"/>
                </a:lnTo>
                <a:arcTo hR="63500" wR="25400" stAng="10800000" swAng="-5400000"/>
                <a:close/>
              </a:path>
            </a:pathLst>
          </a:custGeom>
          <a:solidFill>
            <a:srgbClr val="4C6B8A"/>
          </a:solidFill>
          <a:ln/>
        </p:spPr>
      </p:sp>
      <p:sp>
        <p:nvSpPr>
          <p:cNvPr id="32" name="Text 26"/>
          <p:cNvSpPr/>
          <p:nvPr/>
        </p:nvSpPr>
        <p:spPr>
          <a:xfrm>
            <a:off x="6385560" y="5353050"/>
            <a:ext cx="5012639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E2A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P4 — Stability (max)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6385560" y="5576570"/>
            <a:ext cx="5012639" cy="21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lowest priority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812800" y="6256020"/>
            <a:ext cx="4836795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B65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Input: Y (n x 5 raw objectives) -&gt; Output: merit (n values) in [0,1]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11092100" y="6256020"/>
            <a:ext cx="344519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B65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/ 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150" kern="0" dirty="0">
                <a:solidFill>
                  <a:srgbClr val="9C4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STAGE 2 · LEARN A CHEAP MODEL</a:t>
            </a:r>
            <a:endParaRPr lang="en-US" sz="11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7188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E2A3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Kernel-Density Bayesian Surrogate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04875" y="1671320"/>
            <a:ext cx="4996663" cy="946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1925" indent="-161925">
              <a:lnSpc>
                <a:spcPts val="1813"/>
              </a:lnSpc>
              <a:buSzPct val="100000"/>
              <a:buChar char="•"/>
            </a:pPr>
            <a:r>
              <a:rPr lang="en-US" sz="1250" dirty="0">
                <a:solidFill>
                  <a:srgbClr val="1E2A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Gaussian kernel is centered at every observed point</a:t>
            </a:r>
            <a:endParaRPr lang="en-US" sz="1250" dirty="0"/>
          </a:p>
          <a:p>
            <a:pPr algn="l" marL="161925" indent="-161925">
              <a:lnSpc>
                <a:spcPts val="1813"/>
              </a:lnSpc>
              <a:buSzPct val="100000"/>
              <a:buChar char="•"/>
            </a:pPr>
            <a:r>
              <a:rPr lang="en-US" sz="1250" dirty="0">
                <a:solidFill>
                  <a:srgbClr val="1E2A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Precision (kernel width) grows with the number of observations: tau_n = 12 * n^2</a:t>
            </a:r>
            <a:endParaRPr lang="en-US" sz="1250" dirty="0"/>
          </a:p>
          <a:p>
            <a:pPr algn="l" marL="161925" indent="-161925">
              <a:lnSpc>
                <a:spcPts val="1813"/>
              </a:lnSpc>
              <a:buSzPct val="100000"/>
              <a:buChar char="•"/>
            </a:pPr>
            <a:r>
              <a:rPr lang="en-US" sz="1250" dirty="0">
                <a:solidFill>
                  <a:srgbClr val="1E2A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More data means narrower, more confident kernels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12800" y="2719070"/>
            <a:ext cx="4947920" cy="1295400"/>
          </a:xfrm>
          <a:prstGeom prst="roundRect">
            <a:avLst>
              <a:gd name="adj" fmla="val 5882"/>
            </a:avLst>
          </a:prstGeom>
          <a:solidFill>
            <a:srgbClr val="1E2A33"/>
          </a:solidFill>
          <a:ln/>
        </p:spPr>
      </p:sp>
      <p:sp>
        <p:nvSpPr>
          <p:cNvPr id="6" name="Text 4"/>
          <p:cNvSpPr/>
          <p:nvPr/>
        </p:nvSpPr>
        <p:spPr>
          <a:xfrm>
            <a:off x="977900" y="2884170"/>
            <a:ext cx="475625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D984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KERNEL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77900" y="3117850"/>
            <a:ext cx="4756252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p_k(x) = (tau / 2pi)^(d/2) * exp(-0.5 * tau * ||x - x_k||^2)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77900" y="3411220"/>
            <a:ext cx="475625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D984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77900" y="3644900"/>
            <a:ext cx="4756252" cy="229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predict(x) = sum_k( merit_k * p_k(x) ) / sum_k( p_k(x) 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17895" y="1674495"/>
            <a:ext cx="5358130" cy="2612390"/>
          </a:xfrm>
          <a:prstGeom prst="roundRect">
            <a:avLst>
              <a:gd name="adj" fmla="val 3768"/>
            </a:avLst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</p:spPr>
      </p:sp>
      <p:pic>
        <p:nvPicPr>
          <p:cNvPr id="11" name="Image 0" descr="Five Gaussian kernel bumps along a parameter axis forming a smooth dashed surrogate curv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74460" y="1879600"/>
            <a:ext cx="4445000" cy="19050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021070" y="3886200"/>
            <a:ext cx="5351701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dot is one past experiment. The dashed line is the fitted surrogate curve.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12800" y="6256021"/>
            <a:ext cx="6798373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B65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Input: U (n x 7, unit cube), merit (n,) -&gt; Output: surrogate model predicting merit anywhere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1092100" y="6256021"/>
            <a:ext cx="344519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B65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/ 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150" kern="0" dirty="0">
                <a:solidFill>
                  <a:srgbClr val="9C4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STAGE 3 · DECIDE WHERE TO TRY NEXT</a:t>
            </a:r>
            <a:endParaRPr lang="en-US" sz="11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71882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E2A3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Acquisition Function &amp; Lambda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671321"/>
            <a:ext cx="5156200" cy="1059180"/>
          </a:xfrm>
          <a:prstGeom prst="roundRect">
            <a:avLst>
              <a:gd name="adj" fmla="val 7194"/>
            </a:avLst>
          </a:prstGeom>
          <a:solidFill>
            <a:srgbClr val="1E2A33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1849121"/>
            <a:ext cx="494461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D984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ACQUISITION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90600" y="2095500"/>
            <a:ext cx="494461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alpha(x) = ( sum_k(merit_k * p_k(x)) + lambda * p_uniform ) / ( sum_k(p_k(x)) + p_uniform 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04875" y="2857500"/>
            <a:ext cx="5211191" cy="946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1925" indent="-161925">
              <a:lnSpc>
                <a:spcPts val="1813"/>
              </a:lnSpc>
              <a:buSzPct val="100000"/>
              <a:buChar char="•"/>
            </a:pPr>
            <a:r>
              <a:rPr lang="en-US" sz="1250" dirty="0">
                <a:solidFill>
                  <a:srgbClr val="1E2A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Lambda sweeps from +1 (exploit) to -1 (explore) across the requested proposals</a:t>
            </a:r>
            <a:endParaRPr lang="en-US" sz="1250" dirty="0"/>
          </a:p>
          <a:p>
            <a:pPr algn="l" marL="161925" indent="-161925">
              <a:lnSpc>
                <a:spcPts val="1813"/>
              </a:lnSpc>
              <a:buSzPct val="100000"/>
              <a:buChar char="•"/>
            </a:pPr>
            <a:r>
              <a:rPr lang="en-US" sz="1250" dirty="0">
                <a:solidFill>
                  <a:srgbClr val="1E2A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Near existing data, alpha is close to the surrogate's prediction</a:t>
            </a:r>
            <a:endParaRPr lang="en-US" sz="1250" dirty="0"/>
          </a:p>
          <a:p>
            <a:pPr algn="l" marL="161925" indent="-161925">
              <a:lnSpc>
                <a:spcPts val="1813"/>
              </a:lnSpc>
              <a:buSzPct val="100000"/>
              <a:buChar char="•"/>
            </a:pPr>
            <a:r>
              <a:rPr lang="en-US" sz="1250" dirty="0">
                <a:solidFill>
                  <a:srgbClr val="1E2A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Far from all data, alpha collapses toward lambda itself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26175" y="1674496"/>
            <a:ext cx="5149850" cy="1146810"/>
          </a:xfrm>
          <a:prstGeom prst="roundRect">
            <a:avLst>
              <a:gd name="adj" fmla="val 8583"/>
            </a:avLst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31280" y="1879600"/>
            <a:ext cx="488182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9C4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lambda = +1 — Exploit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31280" y="2174239"/>
            <a:ext cx="4881829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E2A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Unexplored regions look artificially bad. Search concentrates near the current best point.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26175" y="2980057"/>
            <a:ext cx="5149850" cy="1146810"/>
          </a:xfrm>
          <a:prstGeom prst="roundRect">
            <a:avLst>
              <a:gd name="adj" fmla="val 8583"/>
            </a:avLst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1280" y="3185161"/>
            <a:ext cx="488182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C6B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lambda = -1 — Explore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31280" y="3479800"/>
            <a:ext cx="4881829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E2A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Unexplored regions look artificially great. Search is pushed toward unseen areas of the space.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2800" y="6256021"/>
            <a:ext cx="680570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B65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Input: surrogate model + lambda -&gt; Output: acquisition surface alpha(x) over the unit cube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092100" y="6256021"/>
            <a:ext cx="344519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B65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/ 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150" kern="0" dirty="0">
                <a:solidFill>
                  <a:srgbClr val="9C4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STAGE 4 · SEARCH THE SURFACE</a:t>
            </a:r>
            <a:endParaRPr lang="en-US" sz="11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71882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E2A3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Optimizing The Acquisition — Adam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01496"/>
            <a:ext cx="2311400" cy="1601470"/>
          </a:xfrm>
          <a:prstGeom prst="roundRect">
            <a:avLst>
              <a:gd name="adj" fmla="val 6146"/>
            </a:avLst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19812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C1562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5680" y="2362200"/>
            <a:ext cx="201055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2A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Global search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95680" y="2636521"/>
            <a:ext cx="2010550" cy="61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Sample ~2000 random points across the unit cube; evaluate alpha on all of them at once</a:t>
            </a:r>
            <a:endParaRPr lang="en-US" sz="11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19450" y="2538732"/>
            <a:ext cx="254000" cy="127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565525" y="1801496"/>
            <a:ext cx="2311400" cy="1601470"/>
          </a:xfrm>
          <a:prstGeom prst="roundRect">
            <a:avLst>
              <a:gd name="adj" fmla="val 6146"/>
            </a:avLst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45230" y="19812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C1562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745230" y="2362200"/>
            <a:ext cx="201055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2A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Keep the best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745230" y="2636521"/>
            <a:ext cx="2010550" cy="61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Shortlist the ~10 candidates with the lowest acquisition value</a:t>
            </a:r>
            <a:endParaRPr lang="en-US" sz="1100" dirty="0"/>
          </a:p>
        </p:txBody>
      </p:sp>
      <p:pic>
        <p:nvPicPr>
          <p:cNvPr id="13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69000" y="2538732"/>
            <a:ext cx="254000" cy="1270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315075" y="1801496"/>
            <a:ext cx="2311400" cy="1601470"/>
          </a:xfrm>
          <a:prstGeom prst="roundRect">
            <a:avLst>
              <a:gd name="adj" fmla="val 6146"/>
            </a:avLst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94780" y="19812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C1562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494780" y="2362200"/>
            <a:ext cx="201055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2A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Refine with Adam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494780" y="2636521"/>
            <a:ext cx="2010550" cy="61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Walk each candidate downhill using alpha's exact gradient, ~60 steps</a:t>
            </a:r>
            <a:endParaRPr lang="en-US" sz="1100" dirty="0"/>
          </a:p>
        </p:txBody>
      </p:sp>
      <p:pic>
        <p:nvPicPr>
          <p:cNvPr id="18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18550" y="2538732"/>
            <a:ext cx="254000" cy="1270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064625" y="1801496"/>
            <a:ext cx="2311400" cy="1601470"/>
          </a:xfrm>
          <a:prstGeom prst="roundRect">
            <a:avLst>
              <a:gd name="adj" fmla="val 6146"/>
            </a:avLst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244330" y="19812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C1562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9244330" y="2362200"/>
            <a:ext cx="201055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2A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Diversity filter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9244330" y="2636521"/>
            <a:ext cx="2010550" cy="61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Drop a candidate that lands too close to one already chosen this round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812800" y="6256021"/>
            <a:ext cx="6020181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B65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Input: acquisition surface alpha(x) -&gt; Output: next experiment(s), x* in real units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11092100" y="6256021"/>
            <a:ext cx="344519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B65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/ 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150" kern="0" dirty="0">
                <a:solidFill>
                  <a:srgbClr val="9C4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STAGE 5 · LEARN FROM THE RESULT</a:t>
            </a:r>
            <a:endParaRPr lang="en-US" sz="11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71882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E2A3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Closing The Loop — Model Update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99286"/>
            <a:ext cx="2311400" cy="1405890"/>
          </a:xfrm>
          <a:prstGeom prst="roundRect">
            <a:avLst>
              <a:gd name="adj" fmla="val 7001"/>
            </a:avLst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2078989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4C6B8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5680" y="2459989"/>
            <a:ext cx="201055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2A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Recommend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95680" y="2734311"/>
            <a:ext cx="201055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Propose x* from the current observation history</a:t>
            </a:r>
            <a:endParaRPr lang="en-US" sz="11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19450" y="2538732"/>
            <a:ext cx="254000" cy="127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565525" y="1899286"/>
            <a:ext cx="2311400" cy="1405890"/>
          </a:xfrm>
          <a:prstGeom prst="roundRect">
            <a:avLst>
              <a:gd name="adj" fmla="val 7001"/>
            </a:avLst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45230" y="2078989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4C6B8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745230" y="2459989"/>
            <a:ext cx="201055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2A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Experiment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745230" y="2734311"/>
            <a:ext cx="201055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 the real experiment at x*, measure all 5 targets</a:t>
            </a:r>
            <a:endParaRPr lang="en-US" sz="1100" dirty="0"/>
          </a:p>
        </p:txBody>
      </p:sp>
      <p:pic>
        <p:nvPicPr>
          <p:cNvPr id="13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69000" y="2538732"/>
            <a:ext cx="254000" cy="1270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315075" y="1899286"/>
            <a:ext cx="2311400" cy="1405890"/>
          </a:xfrm>
          <a:prstGeom prst="roundRect">
            <a:avLst>
              <a:gd name="adj" fmla="val 7001"/>
            </a:avLst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94780" y="2078989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4C6B8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494780" y="2459989"/>
            <a:ext cx="201055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2A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Append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494780" y="2734311"/>
            <a:ext cx="201055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the new (x*, y) pair to the observation list</a:t>
            </a:r>
            <a:endParaRPr lang="en-US" sz="1100" dirty="0"/>
          </a:p>
        </p:txBody>
      </p:sp>
      <p:pic>
        <p:nvPicPr>
          <p:cNvPr id="18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18550" y="2538732"/>
            <a:ext cx="254000" cy="1270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064625" y="1801496"/>
            <a:ext cx="2311400" cy="1601470"/>
          </a:xfrm>
          <a:prstGeom prst="roundRect">
            <a:avLst>
              <a:gd name="adj" fmla="val 6146"/>
            </a:avLst>
          </a:prstGeom>
          <a:solidFill>
            <a:srgbClr val="FFFFFF"/>
          </a:solidFill>
          <a:ln w="6350">
            <a:solidFill>
              <a:srgbClr val="E2DED2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244330" y="19812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4C6B8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9244330" y="2362200"/>
            <a:ext cx="201055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2A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Refit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9244330" y="2636521"/>
            <a:ext cx="2010550" cy="61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Rebuild the Chimera merit and the surrogate from scratch on the full history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812800" y="3685539"/>
            <a:ext cx="10566400" cy="1059180"/>
          </a:xfrm>
          <a:prstGeom prst="roundRect">
            <a:avLst>
              <a:gd name="adj" fmla="val 7194"/>
            </a:avLst>
          </a:prstGeom>
          <a:solidFill>
            <a:srgbClr val="1E2A33"/>
          </a:solidFill>
          <a:ln/>
        </p:spPr>
      </p:sp>
      <p:sp>
        <p:nvSpPr>
          <p:cNvPr id="24" name="Text 19"/>
          <p:cNvSpPr/>
          <p:nvPr/>
        </p:nvSpPr>
        <p:spPr>
          <a:xfrm>
            <a:off x="990600" y="3863339"/>
            <a:ext cx="10517124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7F5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optimizer is stateless between calls: every recommend() call re-derives the merit and the surrogate from the ENTIRE observation history, not just the newest point.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990600" y="4371339"/>
            <a:ext cx="10517124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D984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 observations -&gt; n+1 after each round -&gt; repeat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812800" y="6256021"/>
            <a:ext cx="6187821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B65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Input: new (x*, y) pair -&gt; Output: updated observation list, ready for the next round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11092100" y="6256021"/>
            <a:ext cx="344519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6B655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/ 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yesian Optimization Approach">
  <a:themeElements>
    <a:clrScheme name="Bayesian Optimization Approach">
      <a:dk1>
        <a:srgbClr val="1E2A33"/>
      </a:dk1>
      <a:lt1>
        <a:srgbClr val="F7F5F0"/>
      </a:lt1>
      <a:dk2>
        <a:srgbClr val="545D62"/>
      </a:dk2>
      <a:lt2>
        <a:srgbClr val="E1E1DD"/>
      </a:lt2>
      <a:accent1>
        <a:srgbClr val="9C4A24"/>
      </a:accent1>
      <a:accent2>
        <a:srgbClr val="D98455"/>
      </a:accent2>
      <a:accent3>
        <a:srgbClr val="4C6B8A"/>
      </a:accent3>
      <a:accent4>
        <a:srgbClr val="C1562F"/>
      </a:accent4>
      <a:accent5>
        <a:srgbClr val="4A5568"/>
      </a:accent5>
      <a:accent6>
        <a:srgbClr val="6B6558"/>
      </a:accent6>
      <a:hlink>
        <a:srgbClr val="0563C1"/>
      </a:hlink>
      <a:folHlink>
        <a:srgbClr val="954F72"/>
      </a:folHlink>
    </a:clrScheme>
    <a:fontScheme name="Bayesian Optimization Approach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Bayesian Optimization Approach</dc:title>
  <dc:subject/>
  <dc:creator/>
  <cp:lastModifiedBy/>
  <cp:revision>1</cp:revision>
  <dcterms:created xsi:type="dcterms:W3CDTF">2026-10-04T07:24:39Z</dcterms:created>
  <dcterms:modified xsi:type="dcterms:W3CDTF">2026-10-04T07:24:39Z</dcterms:modified>
</cp:coreProperties>
</file>